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6" r:id="rId11"/>
    <p:sldId id="265" r:id="rId12"/>
  </p:sldIdLst>
  <p:sldSz cx="12192000" cy="6858000"/>
  <p:notesSz cx="6858000" cy="9144000"/>
  <p:embeddedFontLst>
    <p:embeddedFont>
      <p:font typeface="Space Grotesk" panose="020B0604020202020204" charset="0"/>
      <p:regular r:id="rId14"/>
      <p:bold r:id="rId15"/>
    </p:embeddedFont>
    <p:embeddedFont>
      <p:font typeface="Inter SemiBold" panose="020B0604020202020204" charset="0"/>
      <p:regular r:id="rId16"/>
      <p:bold r:id="rId17"/>
      <p:italic r:id="rId18"/>
      <p:boldItalic r:id="rId19"/>
    </p:embeddedFont>
    <p:embeddedFont>
      <p:font typeface="Inter" panose="020B0604020202020204" charset="0"/>
      <p:regular r:id="rId20"/>
      <p:bold r:id="rId21"/>
      <p:italic r:id="rId22"/>
      <p:boldItalic r:id="rId23"/>
    </p:embeddedFont>
    <p:embeddedFont>
      <p:font typeface="Space Grotesk SemiBold" panose="020B0604020202020204" charset="0"/>
      <p:regular r:id="rId24"/>
      <p:bold r:id="rId25"/>
    </p:embeddedFont>
    <p:embeddedFont>
      <p:font typeface="Calibri" panose="020F0502020204030204" pitchFamily="3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D750A33-3134-4234-BCCA-D7FFBACA4D24}">
  <a:tblStyle styleId="{CD750A33-3134-4234-BCCA-D7FFBACA4D2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644" y="12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335083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402031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4728" y="197636"/>
            <a:ext cx="923222" cy="923222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/>
          <p:nvPr/>
        </p:nvSpPr>
        <p:spPr>
          <a:xfrm>
            <a:off x="1162525" y="460005"/>
            <a:ext cx="9501187" cy="132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50" b="1" i="0" u="none" strike="noStrike" cap="none" dirty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Raw Sector File Carving &amp;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350" b="1" i="0" u="none" strike="noStrike" cap="none" dirty="0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Recovery Engine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2103118" y="2181275"/>
            <a:ext cx="76200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signature-based data recovery tool that scans raw disk sectors for file magic numbers and reconstructs deleted or lost files below the file system layer.</a:t>
            </a:r>
            <a:endParaRPr dirty="0"/>
          </a:p>
        </p:txBody>
      </p:sp>
      <p:sp>
        <p:nvSpPr>
          <p:cNvPr id="15" name="Subtitle 4">
            <a:extLst>
              <a:ext uri="{FF2B5EF4-FFF2-40B4-BE49-F238E27FC236}">
                <a16:creationId xmlns:a16="http://schemas.microsoft.com/office/drawing/2014/main" id="{048AE069-9FF0-05F7-CBE3-2B25136C44D4}"/>
              </a:ext>
            </a:extLst>
          </p:cNvPr>
          <p:cNvSpPr txBox="1">
            <a:spLocks/>
          </p:cNvSpPr>
          <p:nvPr/>
        </p:nvSpPr>
        <p:spPr>
          <a:xfrm>
            <a:off x="6422014" y="3880650"/>
            <a:ext cx="2770112" cy="543931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2800" b="1" dirty="0" smtClean="0"/>
              <a:t>Submitted to:</a:t>
            </a:r>
            <a:endParaRPr lang="en-GB" sz="2800" dirty="0" smtClean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A43F66-E726-AF26-4EC3-72E7F06C0691}"/>
              </a:ext>
            </a:extLst>
          </p:cNvPr>
          <p:cNvSpPr txBox="1"/>
          <p:nvPr/>
        </p:nvSpPr>
        <p:spPr>
          <a:xfrm>
            <a:off x="933650" y="3880650"/>
            <a:ext cx="5437240" cy="543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GB" sz="2800" b="1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Submitted </a:t>
            </a:r>
            <a:r>
              <a:rPr lang="en-GB" sz="2800" b="1" kern="100" dirty="0" smtClean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By:</a:t>
            </a:r>
            <a:endParaRPr lang="en-GB" sz="1600" kern="100" dirty="0"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33650" y="4540084"/>
            <a:ext cx="5226518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Sujoy </a:t>
            </a:r>
            <a:r>
              <a:rPr lang="en-GB" sz="1800" b="1" kern="100" dirty="0" err="1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Devnath</a:t>
            </a:r>
            <a:r>
              <a:rPr lang="en-GB" sz="1800" b="1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(20</a:t>
            </a:r>
            <a:r>
              <a:rPr lang="en-GB" sz="1800" b="1" kern="100" dirty="0" smtClean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spcAft>
                <a:spcPts val="600"/>
              </a:spcAft>
            </a:pPr>
            <a:r>
              <a:rPr lang="en-GB" sz="1800" b="1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MD. </a:t>
            </a:r>
            <a:r>
              <a:rPr lang="en-GB" sz="1800" b="1" kern="100" dirty="0" err="1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Zahed</a:t>
            </a:r>
            <a:r>
              <a:rPr lang="en-GB" sz="1800" b="1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GB" sz="1800" b="1" kern="100" dirty="0" err="1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hossen</a:t>
            </a:r>
            <a:r>
              <a:rPr lang="en-GB" sz="1800" b="1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(19</a:t>
            </a:r>
            <a:r>
              <a:rPr lang="en-GB" sz="1800" b="1" kern="100" dirty="0" smtClean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  <a:endParaRPr lang="en-GB" sz="1800" b="1" kern="100" dirty="0"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r>
              <a:rPr lang="en-GB" sz="1800" kern="100" dirty="0" smtClean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Department </a:t>
            </a:r>
            <a:r>
              <a:rPr lang="en-GB" sz="1800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of Cyber Security Engineering</a:t>
            </a:r>
            <a:endParaRPr lang="en-GB" kern="100" dirty="0"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r>
              <a:rPr lang="en-GB" sz="1800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University of Frontier Technology, </a:t>
            </a:r>
            <a:r>
              <a:rPr lang="en-GB" sz="1800" kern="100" dirty="0" smtClean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Bangladesh</a:t>
            </a:r>
            <a:endParaRPr lang="en-GB" kern="100" dirty="0"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370890" y="4470834"/>
            <a:ext cx="5197643" cy="1492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800" b="1" dirty="0" err="1">
                <a:solidFill>
                  <a:schemeClr val="tx1"/>
                </a:solidFill>
              </a:rPr>
              <a:t>Md</a:t>
            </a:r>
            <a:r>
              <a:rPr lang="en-GB" sz="1800" b="1" dirty="0">
                <a:solidFill>
                  <a:schemeClr val="tx1"/>
                </a:solidFill>
              </a:rPr>
              <a:t> </a:t>
            </a:r>
            <a:r>
              <a:rPr lang="en-GB" sz="1800" b="1" dirty="0" err="1">
                <a:solidFill>
                  <a:schemeClr val="tx1"/>
                </a:solidFill>
              </a:rPr>
              <a:t>Masud</a:t>
            </a:r>
            <a:r>
              <a:rPr lang="en-GB" sz="1800" b="1" dirty="0">
                <a:solidFill>
                  <a:schemeClr val="tx1"/>
                </a:solidFill>
              </a:rPr>
              <a:t> Rana</a:t>
            </a:r>
          </a:p>
          <a:p>
            <a:r>
              <a:rPr lang="en-GB" sz="1800" dirty="0">
                <a:solidFill>
                  <a:schemeClr val="tx1"/>
                </a:solidFill>
              </a:rPr>
              <a:t>Lecturer,</a:t>
            </a:r>
          </a:p>
          <a:p>
            <a:r>
              <a:rPr lang="en-GB" sz="1800" dirty="0">
                <a:solidFill>
                  <a:schemeClr val="tx1"/>
                </a:solidFill>
              </a:rPr>
              <a:t>Department of Cyber Security Engineering</a:t>
            </a:r>
          </a:p>
          <a:p>
            <a:r>
              <a:rPr lang="en-GB" sz="1800" dirty="0">
                <a:solidFill>
                  <a:schemeClr val="tx1"/>
                </a:solidFill>
              </a:rPr>
              <a:t>University of Frontier Technology, Bangladesh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1" y="1446321"/>
            <a:ext cx="5225314" cy="1254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973922"/>
            <a:ext cx="5225315" cy="1299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4546259"/>
            <a:ext cx="5225315" cy="1353613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771525" y="1613593"/>
            <a:ext cx="539067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2563EB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What This Project Does</a:t>
            </a:r>
            <a:endParaRPr dirty="0"/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2146993"/>
            <a:ext cx="5133975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smtClean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application performs raw, </a:t>
            </a:r>
            <a:r>
              <a:rPr lang="en-US" sz="1500" b="1" i="0" u="none" strike="noStrike" cap="none" dirty="0" smtClean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file-system-independent recovery</a:t>
            </a:r>
            <a:r>
              <a:rPr lang="en-US" sz="1500" b="0" i="0" u="none" strike="noStrike" cap="none" dirty="0" smtClean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 It opens physical or logical drives directly through the Windows API, streams physical disks in 1 MB chunks, and scans every chunk for known file signatures.</a:t>
            </a:r>
            <a:endParaRPr dirty="0"/>
          </a:p>
        </p:txBody>
      </p:sp>
      <p:sp>
        <p:nvSpPr>
          <p:cNvPr id="108" name="Google Shape;108;p14"/>
          <p:cNvSpPr txBox="1"/>
          <p:nvPr/>
        </p:nvSpPr>
        <p:spPr>
          <a:xfrm>
            <a:off x="771524" y="4197487"/>
            <a:ext cx="5133975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Whenever a signature match is found, everything </a:t>
            </a:r>
            <a:r>
              <a:rPr lang="en-US" sz="1500" b="0" i="0" u="none" strike="noStrike" cap="none" dirty="0" smtClean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rom 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that offset onward is carved out as a candidate file—recovering intact data even after structural file system loss.</a:t>
            </a:r>
            <a:endParaRPr dirty="0"/>
          </a:p>
        </p:txBody>
      </p:sp>
      <p:sp>
        <p:nvSpPr>
          <p:cNvPr id="109" name="Google Shape;109;p14"/>
          <p:cNvSpPr txBox="1"/>
          <p:nvPr/>
        </p:nvSpPr>
        <p:spPr>
          <a:xfrm>
            <a:off x="6457473" y="1535595"/>
            <a:ext cx="4770596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38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1E293B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Works Below the File System</a:t>
            </a:r>
            <a:endParaRPr dirty="0"/>
          </a:p>
        </p:txBody>
      </p:sp>
      <p:sp>
        <p:nvSpPr>
          <p:cNvPr id="110" name="Google Shape;110;p14"/>
          <p:cNvSpPr txBox="1"/>
          <p:nvPr/>
        </p:nvSpPr>
        <p:spPr>
          <a:xfrm>
            <a:off x="6457473" y="1945170"/>
            <a:ext cx="4963002" cy="64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Reads raw partition sectors directly. Ignores directory tables, partition tables, and file allocation mappings completely.</a:t>
            </a:r>
            <a:endParaRPr sz="1300" dirty="0"/>
          </a:p>
        </p:txBody>
      </p:sp>
      <p:sp>
        <p:nvSpPr>
          <p:cNvPr id="111" name="Google Shape;111;p14"/>
          <p:cNvSpPr txBox="1"/>
          <p:nvPr/>
        </p:nvSpPr>
        <p:spPr>
          <a:xfrm>
            <a:off x="6457473" y="3074113"/>
            <a:ext cx="4770596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38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1E293B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Signature-Driven Engine</a:t>
            </a:r>
            <a:endParaRPr dirty="0"/>
          </a:p>
        </p:txBody>
      </p:sp>
      <p:sp>
        <p:nvSpPr>
          <p:cNvPr id="112" name="Google Shape;112;p14"/>
          <p:cNvSpPr txBox="1"/>
          <p:nvPr/>
        </p:nvSpPr>
        <p:spPr>
          <a:xfrm>
            <a:off x="6457473" y="3483688"/>
            <a:ext cx="4894898" cy="64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Utilizes built-in target definitions mapping magic header sequences with explicit binary masks and offsets.</a:t>
            </a:r>
            <a:endParaRPr sz="1300" dirty="0"/>
          </a:p>
        </p:txBody>
      </p:sp>
      <p:sp>
        <p:nvSpPr>
          <p:cNvPr id="113" name="Google Shape;113;p14"/>
          <p:cNvSpPr txBox="1"/>
          <p:nvPr/>
        </p:nvSpPr>
        <p:spPr>
          <a:xfrm>
            <a:off x="6457473" y="4677090"/>
            <a:ext cx="4770596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24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1E293B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Self-Organizing Output</a:t>
            </a:r>
            <a:endParaRPr dirty="0"/>
          </a:p>
        </p:txBody>
      </p:sp>
      <p:sp>
        <p:nvSpPr>
          <p:cNvPr id="114" name="Google Shape;114;p14"/>
          <p:cNvSpPr txBox="1"/>
          <p:nvPr/>
        </p:nvSpPr>
        <p:spPr>
          <a:xfrm>
            <a:off x="6457473" y="5086665"/>
            <a:ext cx="4930040" cy="64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Automatically segregates recovered data pools into target folders categorized dynamically by matching file extensions.</a:t>
            </a:r>
            <a:endParaRPr sz="1300" dirty="0"/>
          </a:p>
        </p:txBody>
      </p:sp>
      <p:pic>
        <p:nvPicPr>
          <p:cNvPr id="115" name="Google Shape;115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57473" y="156417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57473" y="3102688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57473" y="4705665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4"/>
          <p:cNvSpPr txBox="1"/>
          <p:nvPr/>
        </p:nvSpPr>
        <p:spPr>
          <a:xfrm>
            <a:off x="771525" y="523443"/>
            <a:ext cx="4081739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 smtClean="0">
                <a:solidFill>
                  <a:srgbClr val="FF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01. </a:t>
            </a:r>
            <a:r>
              <a:rPr lang="en-US" sz="2850" b="1" i="0" u="none" strike="noStrike" cap="none" dirty="0" smtClean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Project </a:t>
            </a:r>
            <a:r>
              <a:rPr lang="en-US" sz="2850" b="1" i="0" u="none" strike="noStrike" cap="none" dirty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Overview</a:t>
            </a:r>
            <a:endParaRPr dirty="0"/>
          </a:p>
        </p:txBody>
      </p:sp>
      <p:sp>
        <p:nvSpPr>
          <p:cNvPr id="119" name="Google Shape;119;p14"/>
          <p:cNvSpPr/>
          <p:nvPr/>
        </p:nvSpPr>
        <p:spPr>
          <a:xfrm>
            <a:off x="771525" y="1152525"/>
            <a:ext cx="1064895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5"/>
          <p:cNvSpPr txBox="1"/>
          <p:nvPr/>
        </p:nvSpPr>
        <p:spPr>
          <a:xfrm>
            <a:off x="771525" y="1504950"/>
            <a:ext cx="1064895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The engine maps custom file signatures dynamically using standard offsets and byte hex sequences.</a:t>
            </a:r>
            <a:endParaRPr sz="1800" dirty="0">
              <a:solidFill>
                <a:schemeClr val="tx1"/>
              </a:solidFill>
            </a:endParaRPr>
          </a:p>
        </p:txBody>
      </p:sp>
      <p:graphicFrame>
        <p:nvGraphicFramePr>
          <p:cNvPr id="127" name="Google Shape;127;p15"/>
          <p:cNvGraphicFramePr/>
          <p:nvPr>
            <p:extLst>
              <p:ext uri="{D42A27DB-BD31-4B8C-83A1-F6EECF244321}">
                <p14:modId xmlns:p14="http://schemas.microsoft.com/office/powerpoint/2010/main" val="2570577392"/>
              </p:ext>
            </p:extLst>
          </p:nvPr>
        </p:nvGraphicFramePr>
        <p:xfrm>
          <a:off x="781025" y="2142494"/>
          <a:ext cx="10639450" cy="3809950"/>
        </p:xfrm>
        <a:graphic>
          <a:graphicData uri="http://schemas.openxmlformats.org/drawingml/2006/table">
            <a:tbl>
              <a:tblPr firstRow="1" bandRow="1">
                <a:noFill/>
                <a:tableStyleId>{CD750A33-3134-4234-BCCA-D7FFBACA4D24}</a:tableStyleId>
              </a:tblPr>
              <a:tblGrid>
                <a:gridCol w="120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1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51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4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F172A"/>
                          </a:solidFill>
                          <a:latin typeface="Space Grotesk SemiBold"/>
                          <a:ea typeface="Space Grotesk SemiBold"/>
                          <a:cs typeface="Space Grotesk SemiBold"/>
                          <a:sym typeface="Space Grotesk SemiBold"/>
                        </a:rPr>
                        <a:t>Format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F172A"/>
                          </a:solidFill>
                          <a:latin typeface="Space Grotesk SemiBold"/>
                          <a:ea typeface="Space Grotesk SemiBold"/>
                          <a:cs typeface="Space Grotesk SemiBold"/>
                          <a:sym typeface="Space Grotesk SemiBold"/>
                        </a:rPr>
                        <a:t>Hex Magic Signature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F172A"/>
                          </a:solidFill>
                          <a:latin typeface="Space Grotesk SemiBold"/>
                          <a:ea typeface="Space Grotesk SemiBold"/>
                          <a:cs typeface="Space Grotesk SemiBold"/>
                          <a:sym typeface="Space Grotesk SemiBold"/>
                        </a:rPr>
                        <a:t>Base Offset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F172A"/>
                          </a:solidFill>
                          <a:latin typeface="Space Grotesk SemiBold"/>
                          <a:ea typeface="Space Grotesk SemiBold"/>
                          <a:cs typeface="Space Grotesk SemiBold"/>
                          <a:sym typeface="Space Grotesk SemiBold"/>
                        </a:rPr>
                        <a:t>Raw Description &amp; Indicator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4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334155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JPEG</a:t>
                      </a:r>
                      <a:endParaRPr dirty="0"/>
                    </a:p>
                  </a:txBody>
                  <a:tcPr marL="3429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FF D8 FF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2563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Standard JPEG SOI (Start of Image) segment boundary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4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PNG</a:t>
                      </a:r>
                      <a:endParaRPr/>
                    </a:p>
                  </a:txBody>
                  <a:tcPr marL="3429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89 50 4E 47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2563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PNG Signature header boundary (.PNG)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4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PDF</a:t>
                      </a:r>
                      <a:endParaRPr/>
                    </a:p>
                  </a:txBody>
                  <a:tcPr marL="3810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25 50 44 46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2563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PDF header string representation (%PDF)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4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MP4</a:t>
                      </a:r>
                      <a:endParaRPr/>
                    </a:p>
                  </a:txBody>
                  <a:tcPr marL="3429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66 74 79 70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2563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ISO Base Media File marker indicator (ftyp)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4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334155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ZIP</a:t>
                      </a:r>
                      <a:endParaRPr dirty="0"/>
                    </a:p>
                  </a:txBody>
                  <a:tcPr marL="3429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50 4B 03 04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2563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PKZIP local file header sequence (PK..)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4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smtClean="0">
                          <a:solidFill>
                            <a:srgbClr val="334155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EXE</a:t>
                      </a:r>
                      <a:endParaRPr dirty="0"/>
                    </a:p>
                  </a:txBody>
                  <a:tcPr marL="428625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4D 5A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2563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Legacy DOS/Windows MZ executables (MZ)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8" name="Google Shape;128;p15"/>
          <p:cNvSpPr/>
          <p:nvPr/>
        </p:nvSpPr>
        <p:spPr>
          <a:xfrm>
            <a:off x="785787" y="2694944"/>
            <a:ext cx="1201191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1986979" y="2694944"/>
            <a:ext cx="2495996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4482975" y="2694944"/>
            <a:ext cx="1591121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6074097" y="2694944"/>
            <a:ext cx="535111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785787" y="3247394"/>
            <a:ext cx="120119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1986979" y="3247394"/>
            <a:ext cx="249599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4482975" y="3247394"/>
            <a:ext cx="159112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/>
          <p:nvPr/>
        </p:nvSpPr>
        <p:spPr>
          <a:xfrm>
            <a:off x="6074097" y="3247394"/>
            <a:ext cx="535111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5"/>
          <p:cNvSpPr/>
          <p:nvPr/>
        </p:nvSpPr>
        <p:spPr>
          <a:xfrm>
            <a:off x="785787" y="3785556"/>
            <a:ext cx="120119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/>
          <p:nvPr/>
        </p:nvSpPr>
        <p:spPr>
          <a:xfrm>
            <a:off x="1986979" y="3785556"/>
            <a:ext cx="249599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4482975" y="3785556"/>
            <a:ext cx="159112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6074097" y="3785556"/>
            <a:ext cx="535111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5"/>
          <p:cNvSpPr/>
          <p:nvPr/>
        </p:nvSpPr>
        <p:spPr>
          <a:xfrm>
            <a:off x="785787" y="4323719"/>
            <a:ext cx="120119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5"/>
          <p:cNvSpPr/>
          <p:nvPr/>
        </p:nvSpPr>
        <p:spPr>
          <a:xfrm>
            <a:off x="1986979" y="4323719"/>
            <a:ext cx="249599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5"/>
          <p:cNvSpPr/>
          <p:nvPr/>
        </p:nvSpPr>
        <p:spPr>
          <a:xfrm>
            <a:off x="4482975" y="4323719"/>
            <a:ext cx="159112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5"/>
          <p:cNvSpPr/>
          <p:nvPr/>
        </p:nvSpPr>
        <p:spPr>
          <a:xfrm>
            <a:off x="6074097" y="4323719"/>
            <a:ext cx="535111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5"/>
          <p:cNvSpPr/>
          <p:nvPr/>
        </p:nvSpPr>
        <p:spPr>
          <a:xfrm>
            <a:off x="785787" y="4861881"/>
            <a:ext cx="120119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5"/>
          <p:cNvSpPr/>
          <p:nvPr/>
        </p:nvSpPr>
        <p:spPr>
          <a:xfrm>
            <a:off x="1986979" y="4861881"/>
            <a:ext cx="249599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5"/>
          <p:cNvSpPr/>
          <p:nvPr/>
        </p:nvSpPr>
        <p:spPr>
          <a:xfrm>
            <a:off x="4482975" y="4861881"/>
            <a:ext cx="159112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5"/>
          <p:cNvSpPr/>
          <p:nvPr/>
        </p:nvSpPr>
        <p:spPr>
          <a:xfrm>
            <a:off x="6074097" y="4861881"/>
            <a:ext cx="535111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5"/>
          <p:cNvSpPr/>
          <p:nvPr/>
        </p:nvSpPr>
        <p:spPr>
          <a:xfrm>
            <a:off x="785787" y="5400044"/>
            <a:ext cx="120119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5"/>
          <p:cNvSpPr/>
          <p:nvPr/>
        </p:nvSpPr>
        <p:spPr>
          <a:xfrm>
            <a:off x="1986979" y="5400044"/>
            <a:ext cx="249599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5"/>
          <p:cNvSpPr/>
          <p:nvPr/>
        </p:nvSpPr>
        <p:spPr>
          <a:xfrm>
            <a:off x="4482975" y="5400044"/>
            <a:ext cx="159112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5"/>
          <p:cNvSpPr/>
          <p:nvPr/>
        </p:nvSpPr>
        <p:spPr>
          <a:xfrm>
            <a:off x="6074097" y="5400044"/>
            <a:ext cx="535111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7820" y="3953989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7237" y="5578638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7237" y="5050000"/>
            <a:ext cx="1333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6762" y="3415057"/>
            <a:ext cx="1333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7237" y="2873091"/>
            <a:ext cx="1333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57237" y="4492704"/>
            <a:ext cx="1333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5"/>
          <p:cNvSpPr txBox="1"/>
          <p:nvPr/>
        </p:nvSpPr>
        <p:spPr>
          <a:xfrm>
            <a:off x="771525" y="580377"/>
            <a:ext cx="470525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 smtClean="0">
                <a:solidFill>
                  <a:srgbClr val="FF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02. </a:t>
            </a:r>
            <a:r>
              <a:rPr lang="en-US" sz="2850" b="1" i="0" u="none" strike="noStrike" cap="none" dirty="0" smtClean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Supported </a:t>
            </a:r>
            <a:r>
              <a:rPr lang="en-US" sz="2850" b="1" i="0" u="none" strike="noStrike" cap="none" dirty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Signatures</a:t>
            </a:r>
            <a:endParaRPr dirty="0"/>
          </a:p>
        </p:txBody>
      </p:sp>
      <p:sp>
        <p:nvSpPr>
          <p:cNvPr id="165" name="Google Shape;165;p15"/>
          <p:cNvSpPr/>
          <p:nvPr/>
        </p:nvSpPr>
        <p:spPr>
          <a:xfrm>
            <a:off x="771525" y="1152525"/>
            <a:ext cx="1064895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6"/>
          <p:cNvSpPr txBox="1"/>
          <p:nvPr/>
        </p:nvSpPr>
        <p:spPr>
          <a:xfrm>
            <a:off x="771525" y="1432006"/>
            <a:ext cx="10648950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The recovery engine architecture utilizes decoupled abstraction segments that isolate core parsing from OS hooks.</a:t>
            </a:r>
            <a:endParaRPr sz="1800" dirty="0">
              <a:solidFill>
                <a:schemeClr val="tx1"/>
              </a:solidFill>
            </a:endParaRPr>
          </a:p>
        </p:txBody>
      </p:sp>
      <p:sp>
        <p:nvSpPr>
          <p:cNvPr id="191" name="Google Shape;191;p16"/>
          <p:cNvSpPr txBox="1"/>
          <p:nvPr/>
        </p:nvSpPr>
        <p:spPr>
          <a:xfrm>
            <a:off x="771524" y="474775"/>
            <a:ext cx="5869907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 smtClean="0">
                <a:solidFill>
                  <a:srgbClr val="FF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03. </a:t>
            </a:r>
            <a:r>
              <a:rPr lang="en-US" sz="2850" b="1" i="0" u="none" strike="noStrike" cap="none" dirty="0" smtClean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System </a:t>
            </a:r>
            <a:r>
              <a:rPr lang="en-US" sz="2850" b="1" i="0" u="none" strike="noStrike" cap="none" dirty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Design Architecture</a:t>
            </a:r>
            <a:endParaRPr dirty="0"/>
          </a:p>
        </p:txBody>
      </p:sp>
      <p:sp>
        <p:nvSpPr>
          <p:cNvPr id="192" name="Google Shape;192;p16"/>
          <p:cNvSpPr/>
          <p:nvPr/>
        </p:nvSpPr>
        <p:spPr>
          <a:xfrm>
            <a:off x="771525" y="1152525"/>
            <a:ext cx="1064895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Shape 2"/>
          <p:cNvSpPr/>
          <p:nvPr/>
        </p:nvSpPr>
        <p:spPr>
          <a:xfrm>
            <a:off x="619364" y="2415822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29" name="Shape 3"/>
          <p:cNvSpPr/>
          <p:nvPr/>
        </p:nvSpPr>
        <p:spPr>
          <a:xfrm>
            <a:off x="893684" y="2735862"/>
            <a:ext cx="502920" cy="502920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  <a:ln/>
        </p:spPr>
      </p:sp>
      <p:sp>
        <p:nvSpPr>
          <p:cNvPr id="30" name="Text 4"/>
          <p:cNvSpPr/>
          <p:nvPr/>
        </p:nvSpPr>
        <p:spPr>
          <a:xfrm>
            <a:off x="893684" y="273586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1" name="Text 5"/>
          <p:cNvSpPr/>
          <p:nvPr/>
        </p:nvSpPr>
        <p:spPr>
          <a:xfrm>
            <a:off x="893684" y="3375942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RecoveryManager</a:t>
            </a:r>
            <a:endParaRPr lang="en-US" sz="1600" dirty="0"/>
          </a:p>
        </p:txBody>
      </p:sp>
      <p:sp>
        <p:nvSpPr>
          <p:cNvPr id="32" name="Text 6"/>
          <p:cNvSpPr/>
          <p:nvPr/>
        </p:nvSpPr>
        <p:spPr>
          <a:xfrm>
            <a:off x="893684" y="3769134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ORCHESTRATION LAYER</a:t>
            </a:r>
            <a:endParaRPr lang="en-US" sz="13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3" name="Text 7"/>
          <p:cNvSpPr/>
          <p:nvPr/>
        </p:nvSpPr>
        <p:spPr>
          <a:xfrm>
            <a:off x="893684" y="4153182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dirty="0">
                <a:latin typeface="Inter" panose="020B0604020202020204" charset="0"/>
                <a:ea typeface="Inter" panose="020B0604020202020204" charset="0"/>
              </a:rPr>
              <a:t>Manages the user interface, displays drive lists, and coordinates the active file recovery lists.</a:t>
            </a:r>
            <a:endParaRPr lang="en-US" sz="115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34" name="Text 8"/>
          <p:cNvSpPr/>
          <p:nvPr/>
        </p:nvSpPr>
        <p:spPr>
          <a:xfrm>
            <a:off x="4139804" y="3604542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5" name="Shape 9"/>
          <p:cNvSpPr/>
          <p:nvPr/>
        </p:nvSpPr>
        <p:spPr>
          <a:xfrm>
            <a:off x="4459844" y="2415822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36" name="Shape 10"/>
          <p:cNvSpPr/>
          <p:nvPr/>
        </p:nvSpPr>
        <p:spPr>
          <a:xfrm>
            <a:off x="4734164" y="2735862"/>
            <a:ext cx="502920" cy="502920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  <a:ln/>
        </p:spPr>
      </p:sp>
      <p:sp>
        <p:nvSpPr>
          <p:cNvPr id="37" name="Text 11"/>
          <p:cNvSpPr/>
          <p:nvPr/>
        </p:nvSpPr>
        <p:spPr>
          <a:xfrm>
            <a:off x="4734164" y="273586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8" name="Text 12"/>
          <p:cNvSpPr/>
          <p:nvPr/>
        </p:nvSpPr>
        <p:spPr>
          <a:xfrm>
            <a:off x="4734164" y="3375942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RecoveryEngine</a:t>
            </a:r>
            <a:endParaRPr lang="en-US" sz="1600" dirty="0"/>
          </a:p>
        </p:txBody>
      </p:sp>
      <p:sp>
        <p:nvSpPr>
          <p:cNvPr id="39" name="Text 13"/>
          <p:cNvSpPr/>
          <p:nvPr/>
        </p:nvSpPr>
        <p:spPr>
          <a:xfrm>
            <a:off x="4734164" y="3769134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EXECUTION LAYER</a:t>
            </a:r>
            <a:endParaRPr lang="en-US" sz="13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0" name="Text 14"/>
          <p:cNvSpPr/>
          <p:nvPr/>
        </p:nvSpPr>
        <p:spPr>
          <a:xfrm>
            <a:off x="4734164" y="4153182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dirty="0">
                <a:latin typeface="Inter" panose="020B0604020202020204" charset="0"/>
                <a:ea typeface="Inter" panose="020B0604020202020204" charset="0"/>
              </a:rPr>
              <a:t>Handles direct hardware streams, scans buffers for match signatures, and saves extracted files to the drive.</a:t>
            </a:r>
            <a:endParaRPr lang="en-US" sz="115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41" name="Text 15"/>
          <p:cNvSpPr/>
          <p:nvPr/>
        </p:nvSpPr>
        <p:spPr>
          <a:xfrm>
            <a:off x="7980284" y="3604542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2" name="Shape 16"/>
          <p:cNvSpPr/>
          <p:nvPr/>
        </p:nvSpPr>
        <p:spPr>
          <a:xfrm>
            <a:off x="8300324" y="2415822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43" name="Shape 17"/>
          <p:cNvSpPr/>
          <p:nvPr/>
        </p:nvSpPr>
        <p:spPr>
          <a:xfrm>
            <a:off x="8574644" y="2735862"/>
            <a:ext cx="502920" cy="502920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  <a:ln/>
        </p:spPr>
      </p:sp>
      <p:sp>
        <p:nvSpPr>
          <p:cNvPr id="44" name="Text 18"/>
          <p:cNvSpPr/>
          <p:nvPr/>
        </p:nvSpPr>
        <p:spPr>
          <a:xfrm>
            <a:off x="8574644" y="273586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5" name="Text 19"/>
          <p:cNvSpPr/>
          <p:nvPr/>
        </p:nvSpPr>
        <p:spPr>
          <a:xfrm>
            <a:off x="8574644" y="3375942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FileType Hierarchy</a:t>
            </a:r>
            <a:endParaRPr lang="en-US" sz="1600" dirty="0"/>
          </a:p>
        </p:txBody>
      </p:sp>
      <p:sp>
        <p:nvSpPr>
          <p:cNvPr id="46" name="Text 20"/>
          <p:cNvSpPr/>
          <p:nvPr/>
        </p:nvSpPr>
        <p:spPr>
          <a:xfrm>
            <a:off x="8574644" y="3769134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 LAYER</a:t>
            </a:r>
            <a:endParaRPr lang="en-US" sz="13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7" name="Text 21"/>
          <p:cNvSpPr/>
          <p:nvPr/>
        </p:nvSpPr>
        <p:spPr>
          <a:xfrm>
            <a:off x="8574644" y="4153182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  <a:cs typeface="Arial" panose="020B0604020202020204" pitchFamily="34" charset="0"/>
              </a:rPr>
              <a:t>Abstract base + 6 concrete classes, each declaring a name, extension, and magic bytes.</a:t>
            </a:r>
          </a:p>
        </p:txBody>
      </p:sp>
      <p:sp>
        <p:nvSpPr>
          <p:cNvPr id="48" name="Shape 22"/>
          <p:cNvSpPr/>
          <p:nvPr/>
        </p:nvSpPr>
        <p:spPr>
          <a:xfrm>
            <a:off x="628508" y="6040684"/>
            <a:ext cx="10917936" cy="457200"/>
          </a:xfrm>
          <a:prstGeom prst="roundRect">
            <a:avLst>
              <a:gd name="adj" fmla="val 12000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BFE6C9"/>
            </a:solidFill>
            <a:prstDash val="solid"/>
          </a:ln>
        </p:spPr>
      </p:sp>
      <p:sp>
        <p:nvSpPr>
          <p:cNvPr id="49" name="Text 23"/>
          <p:cNvSpPr/>
          <p:nvPr/>
        </p:nvSpPr>
        <p:spPr>
          <a:xfrm>
            <a:off x="829676" y="6040684"/>
            <a:ext cx="10515600" cy="4572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 flow:  main()  →  RecoveryManager::run()  →  RecoveryEngine::carveDrive()  →  FileType::getMagicBytes()</a:t>
            </a:r>
            <a:endParaRPr lang="en-US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7"/>
          <p:cNvSpPr txBox="1"/>
          <p:nvPr/>
        </p:nvSpPr>
        <p:spPr>
          <a:xfrm>
            <a:off x="6286500" y="1481137"/>
            <a:ext cx="5390673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24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563EB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OOP Polymorphic Design</a:t>
            </a:r>
            <a:endParaRPr/>
          </a:p>
        </p:txBody>
      </p:sp>
      <p:pic>
        <p:nvPicPr>
          <p:cNvPr id="203" name="Google Shape;20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1509712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7"/>
          <p:cNvSpPr txBox="1"/>
          <p:nvPr/>
        </p:nvSpPr>
        <p:spPr>
          <a:xfrm>
            <a:off x="6619875" y="1995788"/>
            <a:ext cx="4800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Strict Abstraction Model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parent interface classes hide configuration logic entirely while enforcing formatting mandates globally.</a:t>
            </a:r>
            <a:endParaRPr/>
          </a:p>
        </p:txBody>
      </p:sp>
      <p:sp>
        <p:nvSpPr>
          <p:cNvPr id="205" name="Google Shape;205;p17"/>
          <p:cNvSpPr txBox="1"/>
          <p:nvPr/>
        </p:nvSpPr>
        <p:spPr>
          <a:xfrm>
            <a:off x="6653664" y="3413610"/>
            <a:ext cx="4800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Pure Virtual Directives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Guarantees that child structures supply matching explicit overrides for magic sequence bounds.</a:t>
            </a:r>
            <a:endParaRPr dirty="0"/>
          </a:p>
        </p:txBody>
      </p:sp>
      <p:sp>
        <p:nvSpPr>
          <p:cNvPr id="206" name="Google Shape;206;p17"/>
          <p:cNvSpPr txBox="1"/>
          <p:nvPr/>
        </p:nvSpPr>
        <p:spPr>
          <a:xfrm>
            <a:off x="6619875" y="4518510"/>
            <a:ext cx="4800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Static Allocation Optimizations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Declaring vectors statically prevents allocation thrashing during multi-gigabyte block sweeps.</a:t>
            </a:r>
            <a:endParaRPr dirty="0"/>
          </a:p>
        </p:txBody>
      </p:sp>
      <p:pic>
        <p:nvPicPr>
          <p:cNvPr id="207" name="Google Shape;20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038651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20289" y="345647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4561373"/>
            <a:ext cx="2190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7"/>
          <p:cNvSpPr txBox="1"/>
          <p:nvPr/>
        </p:nvSpPr>
        <p:spPr>
          <a:xfrm>
            <a:off x="771525" y="559162"/>
            <a:ext cx="7958588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 smtClean="0">
                <a:solidFill>
                  <a:srgbClr val="FF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04. </a:t>
            </a:r>
            <a:r>
              <a:rPr lang="en-US" sz="2850" b="1" i="0" u="none" strike="noStrike" cap="none" dirty="0" smtClean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Code </a:t>
            </a:r>
            <a:r>
              <a:rPr lang="en-US" sz="2850" b="1" i="0" u="none" strike="noStrike" cap="none" dirty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Walkthrough: Defining Signatures</a:t>
            </a:r>
            <a:endParaRPr dirty="0"/>
          </a:p>
        </p:txBody>
      </p:sp>
      <p:sp>
        <p:nvSpPr>
          <p:cNvPr id="211" name="Google Shape;211;p17"/>
          <p:cNvSpPr/>
          <p:nvPr/>
        </p:nvSpPr>
        <p:spPr>
          <a:xfrm>
            <a:off x="771525" y="1152525"/>
            <a:ext cx="1064895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25" y="1326356"/>
            <a:ext cx="5186513" cy="47382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8"/>
          <p:cNvSpPr txBox="1"/>
          <p:nvPr/>
        </p:nvSpPr>
        <p:spPr>
          <a:xfrm>
            <a:off x="6286500" y="1623310"/>
            <a:ext cx="5390673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563EB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Streaming &amp; Scanning Dynamics</a:t>
            </a:r>
            <a:endParaRPr/>
          </a:p>
        </p:txBody>
      </p:sp>
      <p:pic>
        <p:nvPicPr>
          <p:cNvPr id="219" name="Google Shape;21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1651885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8"/>
          <p:cNvSpPr txBox="1"/>
          <p:nvPr/>
        </p:nvSpPr>
        <p:spPr>
          <a:xfrm>
            <a:off x="6619875" y="2139065"/>
            <a:ext cx="4800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Direct Drive Access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Using raw drive path namespaces (\\.\H:) bypasses local NTFS structures completely. Requires Admin privilege.</a:t>
            </a:r>
            <a:endParaRPr/>
          </a:p>
        </p:txBody>
      </p:sp>
      <p:sp>
        <p:nvSpPr>
          <p:cNvPr id="221" name="Google Shape;221;p18"/>
          <p:cNvSpPr txBox="1"/>
          <p:nvPr/>
        </p:nvSpPr>
        <p:spPr>
          <a:xfrm>
            <a:off x="6619875" y="3532370"/>
            <a:ext cx="4800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1 MB Sliding Cache Buffer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Constrains local RAM tracking metrics to a static memory footprint regardless of standard target disk limits.</a:t>
            </a:r>
            <a:endParaRPr/>
          </a:p>
        </p:txBody>
      </p:sp>
      <p:sp>
        <p:nvSpPr>
          <p:cNvPr id="222" name="Google Shape;222;p18"/>
          <p:cNvSpPr txBox="1"/>
          <p:nvPr/>
        </p:nvSpPr>
        <p:spPr>
          <a:xfrm>
            <a:off x="6619875" y="4834488"/>
            <a:ext cx="4800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Sequential Pointer Comparison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Iterates byte offset checks within active sliding frames to isolate magic header marks seamlessly.</a:t>
            </a:r>
            <a:endParaRPr/>
          </a:p>
        </p:txBody>
      </p:sp>
      <p:pic>
        <p:nvPicPr>
          <p:cNvPr id="223" name="Google Shape;22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18192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357523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4877350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8"/>
          <p:cNvSpPr txBox="1"/>
          <p:nvPr/>
        </p:nvSpPr>
        <p:spPr>
          <a:xfrm>
            <a:off x="771525" y="583994"/>
            <a:ext cx="6880558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 smtClean="0">
                <a:solidFill>
                  <a:srgbClr val="FF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05. </a:t>
            </a:r>
            <a:r>
              <a:rPr lang="en-US" sz="2850" b="1" i="0" u="none" strike="noStrike" cap="none" dirty="0" smtClean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Code </a:t>
            </a:r>
            <a:r>
              <a:rPr lang="en-US" sz="2850" b="1" i="0" u="none" strike="noStrike" cap="none" dirty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Walkthrough: Execution Loop</a:t>
            </a:r>
            <a:endParaRPr dirty="0"/>
          </a:p>
        </p:txBody>
      </p:sp>
      <p:sp>
        <p:nvSpPr>
          <p:cNvPr id="227" name="Google Shape;227;p18"/>
          <p:cNvSpPr/>
          <p:nvPr/>
        </p:nvSpPr>
        <p:spPr>
          <a:xfrm>
            <a:off x="771525" y="1152525"/>
            <a:ext cx="1064895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088" y="1423435"/>
            <a:ext cx="5300896" cy="44576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1525" y="2326233"/>
            <a:ext cx="3422600" cy="1500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84625" y="2326233"/>
            <a:ext cx="3422600" cy="1500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97725" y="2326233"/>
            <a:ext cx="3422749" cy="1500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4016920"/>
            <a:ext cx="3422600" cy="1500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4625" y="4016920"/>
            <a:ext cx="3422600" cy="1500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997725" y="4016920"/>
            <a:ext cx="3422749" cy="1500187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9"/>
          <p:cNvSpPr txBox="1"/>
          <p:nvPr/>
        </p:nvSpPr>
        <p:spPr>
          <a:xfrm>
            <a:off x="771450" y="1616240"/>
            <a:ext cx="1064895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A modern structural decomposition of system mechanisms leveraged by the recovery engine.</a:t>
            </a:r>
            <a:endParaRPr sz="1800" dirty="0">
              <a:solidFill>
                <a:schemeClr val="tx1"/>
              </a:solidFill>
            </a:endParaRPr>
          </a:p>
        </p:txBody>
      </p:sp>
      <p:sp>
        <p:nvSpPr>
          <p:cNvPr id="241" name="Google Shape;241;p19"/>
          <p:cNvSpPr txBox="1"/>
          <p:nvPr/>
        </p:nvSpPr>
        <p:spPr>
          <a:xfrm>
            <a:off x="1009650" y="2564358"/>
            <a:ext cx="309366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563EB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OOP Abstraction</a:t>
            </a:r>
            <a:endParaRPr/>
          </a:p>
        </p:txBody>
      </p:sp>
      <p:sp>
        <p:nvSpPr>
          <p:cNvPr id="242" name="Google Shape;242;p19"/>
          <p:cNvSpPr txBox="1"/>
          <p:nvPr/>
        </p:nvSpPr>
        <p:spPr>
          <a:xfrm>
            <a:off x="1000042" y="2889487"/>
            <a:ext cx="29463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9955"/>
              </a:lnSpc>
            </a:pPr>
            <a:r>
              <a:rPr lang="en-US" sz="1200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FileType</a:t>
            </a:r>
            <a:r>
              <a:rPr lang="en-US" sz="12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defines a common interface; six subclasses each encapsulate one format's identity.</a:t>
            </a:r>
          </a:p>
        </p:txBody>
      </p:sp>
      <p:sp>
        <p:nvSpPr>
          <p:cNvPr id="243" name="Google Shape;243;p19"/>
          <p:cNvSpPr txBox="1"/>
          <p:nvPr/>
        </p:nvSpPr>
        <p:spPr>
          <a:xfrm>
            <a:off x="4622750" y="2564358"/>
            <a:ext cx="309366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2563EB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Dynamic Polymorphism</a:t>
            </a:r>
            <a:endParaRPr dirty="0"/>
          </a:p>
        </p:txBody>
      </p:sp>
      <p:sp>
        <p:nvSpPr>
          <p:cNvPr id="244" name="Google Shape;244;p19"/>
          <p:cNvSpPr txBox="1"/>
          <p:nvPr/>
        </p:nvSpPr>
        <p:spPr>
          <a:xfrm>
            <a:off x="4622750" y="2889487"/>
            <a:ext cx="29463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9955"/>
              </a:lnSpc>
            </a:pPr>
            <a:r>
              <a:rPr lang="en-US" sz="1200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carveDrive</a:t>
            </a:r>
            <a:r>
              <a:rPr lang="en-US" sz="12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(</a:t>
            </a:r>
            <a:r>
              <a:rPr lang="en-US" sz="1200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const</a:t>
            </a:r>
            <a:r>
              <a:rPr lang="en-US" sz="12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FileType</a:t>
            </a:r>
            <a:r>
              <a:rPr lang="en-US" sz="12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&amp;) runs </a:t>
            </a:r>
            <a:r>
              <a:rPr lang="en-US" sz="1200" dirty="0" smtClean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for </a:t>
            </a:r>
            <a:r>
              <a:rPr lang="en-US" sz="12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JPEG, PNG, PDF, MP4, ZIP, or EXE — the correct override binds at runtime.</a:t>
            </a:r>
          </a:p>
        </p:txBody>
      </p:sp>
      <p:sp>
        <p:nvSpPr>
          <p:cNvPr id="245" name="Google Shape;245;p19"/>
          <p:cNvSpPr txBox="1"/>
          <p:nvPr/>
        </p:nvSpPr>
        <p:spPr>
          <a:xfrm>
            <a:off x="8235850" y="2564358"/>
            <a:ext cx="3093824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563EB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RAII Asset Lifecycle</a:t>
            </a:r>
            <a:endParaRPr/>
          </a:p>
        </p:txBody>
      </p:sp>
      <p:sp>
        <p:nvSpPr>
          <p:cNvPr id="246" name="Google Shape;246;p19"/>
          <p:cNvSpPr txBox="1"/>
          <p:nvPr/>
        </p:nvSpPr>
        <p:spPr>
          <a:xfrm>
            <a:off x="8235850" y="2889486"/>
            <a:ext cx="31845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9955"/>
              </a:lnSpc>
            </a:pPr>
            <a:r>
              <a:rPr lang="en-US" sz="12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Windows HANDLE and </a:t>
            </a:r>
            <a:r>
              <a:rPr lang="en-US" sz="1200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ofstream</a:t>
            </a:r>
            <a:r>
              <a:rPr lang="en-US" sz="12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wrap OS resources; </a:t>
            </a:r>
            <a:r>
              <a:rPr lang="en-US" sz="1200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CloseHandle</a:t>
            </a:r>
            <a:r>
              <a:rPr lang="en-US" sz="12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() and destructors release them deterministically.</a:t>
            </a:r>
          </a:p>
        </p:txBody>
      </p:sp>
      <p:sp>
        <p:nvSpPr>
          <p:cNvPr id="247" name="Google Shape;247;p19"/>
          <p:cNvSpPr txBox="1"/>
          <p:nvPr/>
        </p:nvSpPr>
        <p:spPr>
          <a:xfrm>
            <a:off x="1009650" y="4255045"/>
            <a:ext cx="309366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563EB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File Signatures</a:t>
            </a:r>
            <a:endParaRPr/>
          </a:p>
        </p:txBody>
      </p:sp>
      <p:sp>
        <p:nvSpPr>
          <p:cNvPr id="248" name="Google Shape;248;p19"/>
          <p:cNvSpPr txBox="1"/>
          <p:nvPr/>
        </p:nvSpPr>
        <p:spPr>
          <a:xfrm>
            <a:off x="1009649" y="4584107"/>
            <a:ext cx="3093667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9955"/>
              </a:lnSpc>
            </a:pPr>
            <a:r>
              <a:rPr lang="en-US" sz="12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“Magic numbers” — fixed byte patterns at a known offset — let the tool identify format without any file-system metadata.</a:t>
            </a:r>
          </a:p>
        </p:txBody>
      </p:sp>
      <p:sp>
        <p:nvSpPr>
          <p:cNvPr id="249" name="Google Shape;249;p19"/>
          <p:cNvSpPr txBox="1"/>
          <p:nvPr/>
        </p:nvSpPr>
        <p:spPr>
          <a:xfrm>
            <a:off x="4622750" y="4255045"/>
            <a:ext cx="309366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563EB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Buffered Streaming I/O</a:t>
            </a:r>
            <a:endParaRPr/>
          </a:p>
        </p:txBody>
      </p:sp>
      <p:sp>
        <p:nvSpPr>
          <p:cNvPr id="250" name="Google Shape;250;p19"/>
          <p:cNvSpPr txBox="1"/>
          <p:nvPr/>
        </p:nvSpPr>
        <p:spPr>
          <a:xfrm>
            <a:off x="4622750" y="4547722"/>
            <a:ext cx="29463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 MB streaming blocks balance I/O efficiency and cache limits, preventing crashes during large drive analysis.</a:t>
            </a:r>
            <a:endParaRPr sz="1600" dirty="0"/>
          </a:p>
        </p:txBody>
      </p:sp>
      <p:sp>
        <p:nvSpPr>
          <p:cNvPr id="251" name="Google Shape;251;p19"/>
          <p:cNvSpPr txBox="1"/>
          <p:nvPr/>
        </p:nvSpPr>
        <p:spPr>
          <a:xfrm>
            <a:off x="8235850" y="4255045"/>
            <a:ext cx="309382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2563EB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Win32 </a:t>
            </a:r>
            <a:r>
              <a:rPr lang="en-US" sz="1500" b="0" i="0" u="none" strike="noStrike" cap="none" dirty="0" smtClean="0">
                <a:solidFill>
                  <a:srgbClr val="2563EB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System Calls</a:t>
            </a:r>
            <a:endParaRPr dirty="0"/>
          </a:p>
        </p:txBody>
      </p:sp>
      <p:sp>
        <p:nvSpPr>
          <p:cNvPr id="252" name="Google Shape;252;p19"/>
          <p:cNvSpPr txBox="1"/>
          <p:nvPr/>
        </p:nvSpPr>
        <p:spPr>
          <a:xfrm>
            <a:off x="8235850" y="4536095"/>
            <a:ext cx="3093824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9955"/>
              </a:lnSpc>
            </a:pPr>
            <a:r>
              <a:rPr lang="en-US" sz="1200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CreateFileA</a:t>
            </a:r>
            <a:r>
              <a:rPr lang="en-US" sz="12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200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ReadFile</a:t>
            </a:r>
            <a:r>
              <a:rPr lang="en-US" sz="12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200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GetLogicalDrives</a:t>
            </a:r>
            <a:r>
              <a:rPr lang="en-US" sz="12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and </a:t>
            </a:r>
            <a:r>
              <a:rPr lang="en-US" sz="1200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CreateDirectoryA</a:t>
            </a:r>
            <a:r>
              <a:rPr lang="en-US" sz="12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drive direct, low-level OS interaction.</a:t>
            </a:r>
          </a:p>
        </p:txBody>
      </p:sp>
      <p:sp>
        <p:nvSpPr>
          <p:cNvPr id="259" name="Google Shape;259;p19"/>
          <p:cNvSpPr txBox="1"/>
          <p:nvPr/>
        </p:nvSpPr>
        <p:spPr>
          <a:xfrm>
            <a:off x="771525" y="557673"/>
            <a:ext cx="6374342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 smtClean="0">
                <a:solidFill>
                  <a:srgbClr val="FF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05. </a:t>
            </a:r>
            <a:r>
              <a:rPr lang="en-US" sz="2850" b="1" i="0" u="none" strike="noStrike" cap="none" dirty="0" smtClean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Core Concepts Applied</a:t>
            </a:r>
            <a:endParaRPr dirty="0"/>
          </a:p>
        </p:txBody>
      </p:sp>
      <p:sp>
        <p:nvSpPr>
          <p:cNvPr id="260" name="Google Shape;260;p19"/>
          <p:cNvSpPr/>
          <p:nvPr/>
        </p:nvSpPr>
        <p:spPr>
          <a:xfrm>
            <a:off x="771525" y="1152525"/>
            <a:ext cx="1064895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0"/>
          <p:cNvSpPr txBox="1"/>
          <p:nvPr/>
        </p:nvSpPr>
        <p:spPr>
          <a:xfrm>
            <a:off x="771525" y="1680634"/>
            <a:ext cx="5390673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563EB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Legitimate Dual-Use Applications</a:t>
            </a:r>
            <a:endParaRPr/>
          </a:p>
        </p:txBody>
      </p:sp>
      <p:sp>
        <p:nvSpPr>
          <p:cNvPr id="268" name="Google Shape;268;p20"/>
          <p:cNvSpPr txBox="1"/>
          <p:nvPr/>
        </p:nvSpPr>
        <p:spPr>
          <a:xfrm>
            <a:off x="6286500" y="1680634"/>
            <a:ext cx="5390673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C2626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Inherent Security Limitations</a:t>
            </a:r>
            <a:endParaRPr/>
          </a:p>
        </p:txBody>
      </p:sp>
      <p:sp>
        <p:nvSpPr>
          <p:cNvPr id="269" name="Google Shape;269;p20"/>
          <p:cNvSpPr txBox="1"/>
          <p:nvPr/>
        </p:nvSpPr>
        <p:spPr>
          <a:xfrm>
            <a:off x="1104900" y="2166409"/>
            <a:ext cx="4800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Digital Investigation Support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Acts as a low-level data recovery solution to extract evidence from damaged or unallocated sectors.</a:t>
            </a:r>
            <a:endParaRPr/>
          </a:p>
        </p:txBody>
      </p:sp>
      <p:sp>
        <p:nvSpPr>
          <p:cNvPr id="270" name="Google Shape;270;p20"/>
          <p:cNvSpPr txBox="1"/>
          <p:nvPr/>
        </p:nvSpPr>
        <p:spPr>
          <a:xfrm>
            <a:off x="1104900" y="3271309"/>
            <a:ext cx="4800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Administrative Escalation Checks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Enforcing explicit root privilege checks keeps standard guest profiles from accessing raw disk sectors.</a:t>
            </a:r>
            <a:endParaRPr/>
          </a:p>
        </p:txBody>
      </p:sp>
      <p:sp>
        <p:nvSpPr>
          <p:cNvPr id="271" name="Google Shape;271;p20"/>
          <p:cNvSpPr txBox="1"/>
          <p:nvPr/>
        </p:nvSpPr>
        <p:spPr>
          <a:xfrm>
            <a:off x="1104900" y="4609571"/>
            <a:ext cx="4800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Accidental Deletion Recovery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Provides direct, file-system-independent utility to safely salvage partition records lost to accidental format.</a:t>
            </a:r>
            <a:endParaRPr/>
          </a:p>
        </p:txBody>
      </p:sp>
      <p:sp>
        <p:nvSpPr>
          <p:cNvPr id="272" name="Google Shape;272;p20"/>
          <p:cNvSpPr txBox="1"/>
          <p:nvPr/>
        </p:nvSpPr>
        <p:spPr>
          <a:xfrm>
            <a:off x="6619875" y="2166409"/>
            <a:ext cx="4800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Chain of Custody Disconnections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No integrated generation of SHA-256 hashes during capture cycles risks evidence validation checks in legal cases.</a:t>
            </a:r>
            <a:endParaRPr/>
          </a:p>
        </p:txBody>
      </p:sp>
      <p:sp>
        <p:nvSpPr>
          <p:cNvPr id="273" name="Google Shape;273;p20"/>
          <p:cNvSpPr txBox="1"/>
          <p:nvPr/>
        </p:nvSpPr>
        <p:spPr>
          <a:xfrm>
            <a:off x="6619875" y="3461809"/>
            <a:ext cx="4800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High Rate of False Positives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Basing file boundaries strictly on start-of-file markers (no footer verification) often results in fragmented, corrupt output.</a:t>
            </a:r>
            <a:endParaRPr/>
          </a:p>
        </p:txBody>
      </p:sp>
      <p:sp>
        <p:nvSpPr>
          <p:cNvPr id="274" name="Google Shape;274;p20"/>
          <p:cNvSpPr txBox="1"/>
          <p:nvPr/>
        </p:nvSpPr>
        <p:spPr>
          <a:xfrm>
            <a:off x="6661150" y="4752446"/>
            <a:ext cx="4800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No Active Write Prevention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Without physical or hardware-level write blocks, scanning live drives risk overwriting critical evidence data points.</a:t>
            </a:r>
            <a:endParaRPr/>
          </a:p>
        </p:txBody>
      </p:sp>
      <p:pic>
        <p:nvPicPr>
          <p:cNvPr id="275" name="Google Shape;27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1525" y="2209271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3314171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4652433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2209271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86500" y="3504671"/>
            <a:ext cx="2190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0"/>
          <p:cNvSpPr txBox="1"/>
          <p:nvPr/>
        </p:nvSpPr>
        <p:spPr>
          <a:xfrm>
            <a:off x="771525" y="556468"/>
            <a:ext cx="5390673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 smtClean="0">
                <a:solidFill>
                  <a:srgbClr val="FF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07. </a:t>
            </a:r>
            <a:r>
              <a:rPr lang="en-US" sz="2850" b="1" i="0" u="none" strike="noStrike" cap="none" dirty="0" smtClean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Forensic </a:t>
            </a:r>
            <a:r>
              <a:rPr lang="en-US" sz="2850" b="1" i="0" u="none" strike="noStrike" cap="none" dirty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&amp; Security Lens</a:t>
            </a:r>
            <a:endParaRPr dirty="0"/>
          </a:p>
        </p:txBody>
      </p:sp>
      <p:sp>
        <p:nvSpPr>
          <p:cNvPr id="281" name="Google Shape;281;p20"/>
          <p:cNvSpPr/>
          <p:nvPr/>
        </p:nvSpPr>
        <p:spPr>
          <a:xfrm>
            <a:off x="771525" y="1152525"/>
            <a:ext cx="1064895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28122" y="1974501"/>
            <a:ext cx="7968216" cy="12093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6645" y="3411423"/>
            <a:ext cx="7968215" cy="1155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94724" y="4857243"/>
            <a:ext cx="7892816" cy="1233796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3"/>
          <p:cNvSpPr txBox="1"/>
          <p:nvPr/>
        </p:nvSpPr>
        <p:spPr>
          <a:xfrm>
            <a:off x="776438" y="1389690"/>
            <a:ext cx="1064895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Three core technical limits that basic, sequential disk block scanners face during data recovery.</a:t>
            </a:r>
            <a:endParaRPr sz="1800" dirty="0">
              <a:solidFill>
                <a:schemeClr val="tx1"/>
              </a:solidFill>
            </a:endParaRPr>
          </a:p>
        </p:txBody>
      </p:sp>
      <p:sp>
        <p:nvSpPr>
          <p:cNvPr id="319" name="Google Shape;319;p23"/>
          <p:cNvSpPr txBox="1"/>
          <p:nvPr/>
        </p:nvSpPr>
        <p:spPr>
          <a:xfrm>
            <a:off x="1761646" y="2104196"/>
            <a:ext cx="554048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EF4444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Split Files</a:t>
            </a:r>
            <a:endParaRPr dirty="0"/>
          </a:p>
        </p:txBody>
      </p:sp>
      <p:sp>
        <p:nvSpPr>
          <p:cNvPr id="320" name="Google Shape;320;p23"/>
          <p:cNvSpPr txBox="1"/>
          <p:nvPr/>
        </p:nvSpPr>
        <p:spPr>
          <a:xfrm>
            <a:off x="1561498" y="2418556"/>
            <a:ext cx="7234690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When file data is scattered across non-continuous blocks on a drive, a simple scanner reads unrelated data in between, resulting in broken or corrupt files.</a:t>
            </a:r>
            <a:endParaRPr sz="1600" dirty="0"/>
          </a:p>
        </p:txBody>
      </p:sp>
      <p:sp>
        <p:nvSpPr>
          <p:cNvPr id="321" name="Google Shape;321;p23"/>
          <p:cNvSpPr txBox="1"/>
          <p:nvPr/>
        </p:nvSpPr>
        <p:spPr>
          <a:xfrm>
            <a:off x="2532372" y="3545958"/>
            <a:ext cx="6563241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71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59E0B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Sector Slack Space</a:t>
            </a:r>
            <a:endParaRPr dirty="0"/>
          </a:p>
        </p:txBody>
      </p:sp>
      <p:sp>
        <p:nvSpPr>
          <p:cNvPr id="322" name="Google Shape;322;p23"/>
          <p:cNvSpPr txBox="1"/>
          <p:nvPr/>
        </p:nvSpPr>
        <p:spPr>
          <a:xfrm>
            <a:off x="2370020" y="3790093"/>
            <a:ext cx="7451959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Files rarely fill a sector completely, leaving empty gaps at the end of a block. Important hidden metadata in these gaps is usually missed or skipped by basic scanners.</a:t>
            </a:r>
            <a:endParaRPr sz="1600" dirty="0"/>
          </a:p>
        </p:txBody>
      </p:sp>
      <p:sp>
        <p:nvSpPr>
          <p:cNvPr id="323" name="Google Shape;323;p23"/>
          <p:cNvSpPr txBox="1"/>
          <p:nvPr/>
        </p:nvSpPr>
        <p:spPr>
          <a:xfrm>
            <a:off x="3028099" y="5022683"/>
            <a:ext cx="2900362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71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2563EB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Shifted Signatures</a:t>
            </a:r>
            <a:endParaRPr dirty="0"/>
          </a:p>
        </p:txBody>
      </p:sp>
      <p:sp>
        <p:nvSpPr>
          <p:cNvPr id="324" name="Google Shape;324;p23"/>
          <p:cNvSpPr txBox="1"/>
          <p:nvPr/>
        </p:nvSpPr>
        <p:spPr>
          <a:xfrm>
            <a:off x="3028099" y="5317958"/>
            <a:ext cx="7453562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Certain file types do not start precisely at the zero byte index of a disk block. Standard scanners that look only at fixed block boundaries will miss these files entirely.</a:t>
            </a:r>
            <a:endParaRPr sz="1600" dirty="0"/>
          </a:p>
        </p:txBody>
      </p:sp>
      <p:pic>
        <p:nvPicPr>
          <p:cNvPr id="325" name="Google Shape;325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61498" y="2132771"/>
            <a:ext cx="400297" cy="22534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370021" y="3555355"/>
            <a:ext cx="324703" cy="22534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028099" y="5051258"/>
            <a:ext cx="18097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3"/>
          <p:cNvSpPr txBox="1"/>
          <p:nvPr/>
        </p:nvSpPr>
        <p:spPr>
          <a:xfrm>
            <a:off x="771525" y="543566"/>
            <a:ext cx="6524424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 smtClean="0">
                <a:solidFill>
                  <a:srgbClr val="FF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08. </a:t>
            </a:r>
            <a:r>
              <a:rPr lang="en-US" sz="2700" b="1" i="0" u="none" strike="noStrike" cap="none" dirty="0" smtClean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Carving </a:t>
            </a:r>
            <a:r>
              <a:rPr lang="en-US" sz="2700" b="1" i="0" u="none" strike="noStrike" cap="none" dirty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Challenges</a:t>
            </a:r>
            <a:endParaRPr dirty="0"/>
          </a:p>
        </p:txBody>
      </p:sp>
      <p:sp>
        <p:nvSpPr>
          <p:cNvPr id="329" name="Google Shape;329;p23"/>
          <p:cNvSpPr/>
          <p:nvPr/>
        </p:nvSpPr>
        <p:spPr>
          <a:xfrm>
            <a:off x="771525" y="1133475"/>
            <a:ext cx="1064895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285758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1525" y="2284578"/>
            <a:ext cx="3359199" cy="3182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6474" y="2284578"/>
            <a:ext cx="3359199" cy="3182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61424" y="2284578"/>
            <a:ext cx="3359199" cy="3182571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4"/>
          <p:cNvSpPr txBox="1"/>
          <p:nvPr/>
        </p:nvSpPr>
        <p:spPr>
          <a:xfrm>
            <a:off x="771525" y="1652145"/>
            <a:ext cx="1064895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Key planned features to upgrade the scanner into an intelligent, cross-platform forensic utility.</a:t>
            </a:r>
            <a:endParaRPr sz="1800" dirty="0">
              <a:solidFill>
                <a:schemeClr val="tx1"/>
              </a:solidFill>
            </a:endParaRPr>
          </a:p>
        </p:txBody>
      </p:sp>
      <p:sp>
        <p:nvSpPr>
          <p:cNvPr id="340" name="Google Shape;340;p24"/>
          <p:cNvSpPr txBox="1"/>
          <p:nvPr/>
        </p:nvSpPr>
        <p:spPr>
          <a:xfrm>
            <a:off x="1066800" y="3141828"/>
            <a:ext cx="2907082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Smart Carving</a:t>
            </a:r>
            <a:endParaRPr/>
          </a:p>
        </p:txBody>
      </p:sp>
      <p:sp>
        <p:nvSpPr>
          <p:cNvPr id="341" name="Google Shape;341;p24"/>
          <p:cNvSpPr txBox="1"/>
          <p:nvPr/>
        </p:nvSpPr>
        <p:spPr>
          <a:xfrm>
            <a:off x="1066800" y="3551403"/>
            <a:ext cx="2768649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Implement header-footer boundary matching to stop carving precisely at the file limit, reducing file corruption and false positives.</a:t>
            </a:r>
            <a:endParaRPr dirty="0"/>
          </a:p>
        </p:txBody>
      </p:sp>
      <p:sp>
        <p:nvSpPr>
          <p:cNvPr id="342" name="Google Shape;342;p24"/>
          <p:cNvSpPr txBox="1"/>
          <p:nvPr/>
        </p:nvSpPr>
        <p:spPr>
          <a:xfrm>
            <a:off x="4711749" y="3141828"/>
            <a:ext cx="2907082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Cross-Platform Port</a:t>
            </a:r>
            <a:endParaRPr/>
          </a:p>
        </p:txBody>
      </p:sp>
      <p:sp>
        <p:nvSpPr>
          <p:cNvPr id="343" name="Google Shape;343;p24"/>
          <p:cNvSpPr txBox="1"/>
          <p:nvPr/>
        </p:nvSpPr>
        <p:spPr>
          <a:xfrm>
            <a:off x="4711749" y="3551403"/>
            <a:ext cx="2768649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Replace Windows system hooks with POSIX-standard raw device abstractions to support native compilation on Linux and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macOS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344" name="Google Shape;344;p24"/>
          <p:cNvSpPr txBox="1"/>
          <p:nvPr/>
        </p:nvSpPr>
        <p:spPr>
          <a:xfrm>
            <a:off x="8356699" y="3141828"/>
            <a:ext cx="2907082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Forensic Audit Logs</a:t>
            </a:r>
            <a:endParaRPr/>
          </a:p>
        </p:txBody>
      </p:sp>
      <p:sp>
        <p:nvSpPr>
          <p:cNvPr id="345" name="Google Shape;345;p24"/>
          <p:cNvSpPr txBox="1"/>
          <p:nvPr/>
        </p:nvSpPr>
        <p:spPr>
          <a:xfrm>
            <a:off x="8356699" y="3551403"/>
            <a:ext cx="2768649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Incorporate live SHA-256 hash generation on carved evidence blocks alongside structured PDF session history outputs.</a:t>
            </a:r>
            <a:endParaRPr dirty="0"/>
          </a:p>
        </p:txBody>
      </p:sp>
      <p:pic>
        <p:nvPicPr>
          <p:cNvPr id="346" name="Google Shape;346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66800" y="2617953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11749" y="2617953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356699" y="2617953"/>
            <a:ext cx="3905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4"/>
          <p:cNvSpPr txBox="1"/>
          <p:nvPr/>
        </p:nvSpPr>
        <p:spPr>
          <a:xfrm>
            <a:off x="756148" y="576374"/>
            <a:ext cx="5087408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 smtClean="0">
                <a:solidFill>
                  <a:srgbClr val="FF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09. </a:t>
            </a:r>
            <a:r>
              <a:rPr lang="en-US" sz="2700" b="1" i="0" u="none" strike="noStrike" cap="none" dirty="0" smtClean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Future </a:t>
            </a:r>
            <a:r>
              <a:rPr lang="en-US" sz="2700" b="1" i="0" u="none" strike="noStrike" cap="none" dirty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Improvements</a:t>
            </a:r>
            <a:endParaRPr dirty="0"/>
          </a:p>
        </p:txBody>
      </p:sp>
      <p:sp>
        <p:nvSpPr>
          <p:cNvPr id="350" name="Google Shape;350;p24"/>
          <p:cNvSpPr/>
          <p:nvPr/>
        </p:nvSpPr>
        <p:spPr>
          <a:xfrm>
            <a:off x="771525" y="1133475"/>
            <a:ext cx="1064895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071662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25533" y="2241103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2"/>
          <p:cNvSpPr txBox="1"/>
          <p:nvPr/>
        </p:nvSpPr>
        <p:spPr>
          <a:xfrm>
            <a:off x="1379801" y="3088828"/>
            <a:ext cx="8501062" cy="591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 dirty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Thank You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</TotalTime>
  <Words>1050</Words>
  <Application>Microsoft Office PowerPoint</Application>
  <PresentationFormat>Widescreen</PresentationFormat>
  <Paragraphs>119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Space Grotesk</vt:lpstr>
      <vt:lpstr>Inter SemiBold</vt:lpstr>
      <vt:lpstr>Arial</vt:lpstr>
      <vt:lpstr>Inter</vt:lpstr>
      <vt:lpstr>Courier New</vt:lpstr>
      <vt:lpstr>Space Grotesk SemiBold</vt:lpstr>
      <vt:lpstr>Calibri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SUJOY</dc:creator>
  <cp:lastModifiedBy>SUJOY</cp:lastModifiedBy>
  <cp:revision>22</cp:revision>
  <dcterms:modified xsi:type="dcterms:W3CDTF">2026-07-14T01:52:20Z</dcterms:modified>
</cp:coreProperties>
</file>